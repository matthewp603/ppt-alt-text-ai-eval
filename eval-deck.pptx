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And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  <p:txStyles>
    <p:titleStyle>
      <a:lvl1pPr>
        <a:defRPr sz="4400" b="1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>
            <a:spLocks noGrp="1"/>
          </p:cNvSpPr>
          <p:nvPr/>
        </p:nvSpPr>
        <p:spPr>
          <a:xfrm>
            <a:off x="0" y="0"/>
            <a:ext cx="9144000" cy="2300000"/>
          </a:xfrm>
          <a:prstGeom prst="rect">
            <a:avLst/>
          </a:prstGeom>
          <a:solidFill>
            <a:srgbClr val="0F6CBD"/>
          </a:solidFill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FFFFFF"/>
                </a:solidFill>
              </a:rPr>
              <a:t>PANEL</a:t>
            </a:r>
          </a:p>
          <a:p>
            <a:pPr>
              <a:buNone/>
            </a:pPr>
            <a:r>
              <a:rPr sz="1600">
                <a:solidFill>
                  <a:srgbClr val="FFFFFF"/>
                </a:solidFill>
              </a:rPr>
              <a:t>Convene the panel. Trust the verdict.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685800" y="2700000"/>
            <a:ext cx="7772400" cy="12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3600">
                <a:solidFill>
                  <a:srgbClr val="1F3864"/>
                </a:solidFill>
              </a:rPr>
              <a:t>Alt-text pilot (Matt's worked copy) readout</a:t>
            </a:r>
          </a:p>
        </p:txBody>
      </p:sp>
      <p:sp>
        <p:nvSpPr>
          <p:cNvPr id="4" name="Sub"/>
          <p:cNvSpPr>
            <a:spLocks noGrp="1"/>
          </p:cNvSpPr>
          <p:nvPr/>
        </p:nvSpPr>
        <p:spPr>
          <a:xfrm>
            <a:off x="685800" y="4000000"/>
            <a:ext cx="7772400" cy="22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sz="1800">
                <a:solidFill>
                  <a:srgbClr val="595959"/>
                </a:solidFill>
              </a:rPr>
              <a:t>Readout date: 2026-10-05</a:t>
            </a:r>
          </a:p>
          <a:p>
            <a:pPr>
              <a:buNone/>
            </a:pPr>
            <a:r>
              <a:rPr sz="1800">
                <a:solidFill>
                  <a:srgbClr val="595959"/>
                </a:solidFill>
              </a:rPr>
              <a:t>12 inputs graded · Rubric v2 · Trust bar kappa 0.60</a:t>
            </a:r>
          </a:p>
          <a:p>
            <a:pPr>
              <a:buNone/>
            </a:pPr>
            <a:r>
              <a:rPr sz="1800">
                <a:solidFill>
                  <a:srgbClr val="595959"/>
                </a:solidFill>
              </a:rPr>
              <a:t>Built with PANEL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6CBD"/>
          </a:solidFill>
        </p:spPr>
        <p:txBody>
          <a:bodyPr wrap="square"/>
          <a:lstStyle/>
        </p:txBody>
      </p:sp>
      <p:sp>
        <p:nvSpPr>
          <p:cNvPr id="3" name="SecTitle"/>
          <p:cNvSpPr>
            <a:spLocks noGrp="1"/>
          </p:cNvSpPr>
          <p:nvPr/>
        </p:nvSpPr>
        <p:spPr>
          <a:xfrm>
            <a:off x="685800" y="2500000"/>
            <a:ext cx="7772400" cy="1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4000">
                <a:solidFill>
                  <a:srgbClr val="FFFFFF"/>
                </a:solidFill>
              </a:rPr>
              <a:t>Executive summary</a:t>
            </a:r>
          </a:p>
          <a:p>
            <a:pPr>
              <a:buNone/>
            </a:pPr>
            <a:r>
              <a:rPr sz="1800">
                <a:solidFill>
                  <a:srgbClr val="FFFFFF"/>
                </a:solidFill>
              </a:rPr>
              <a:t>The verdict, up front.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Verdict by construct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685800" y="1500000"/>
          <a:ext cx="7772400" cy="1440000"/>
        </p:xfrm>
        <a:graphic>
          <a:graphicData uri="http://schemas.openxmlformats.org/drawingml/2006/table">
            <a:tbl>
              <a:tblPr firstRow="1" bandRow="1">
                <a:tableStyleId>{5C22544A-7EE6-4342-B048-85BDC54066F5}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34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Construct</a:t>
                      </a:r>
                    </a:p>
                  </a:txBody>
                  <a:tcPr marL="114300" marR="114300" marT="57150" marB="5715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You vs Judge A</a:t>
                      </a:r>
                    </a:p>
                  </a:txBody>
                  <a:tcPr marL="114300" marR="114300" marT="57150" marB="5715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You vs Judge B</a:t>
                      </a:r>
                    </a:p>
                  </a:txBody>
                  <a:tcPr marL="114300" marR="114300" marT="57150" marB="5715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 marL="114300" marR="114300" marT="57150" marB="57150">
                    <a:solidFill>
                      <a:srgbClr val="1F3864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descriptive_accuracy</a:t>
                      </a:r>
                    </a:p>
                  </a:txBody>
                  <a:tcPr marL="114300" marR="114300" marT="57150" marB="5715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006100"/>
                          </a:solidFill>
                        </a:rPr>
                        <a:t>0.71 (n=12)</a:t>
                      </a:r>
                    </a:p>
                  </a:txBody>
                  <a:tcPr marL="114300" marR="114300" marT="57150" marB="5715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006100"/>
                          </a:solidFill>
                        </a:rPr>
                        <a:t>0.84 (n=12)</a:t>
                      </a:r>
                    </a:p>
                  </a:txBody>
                  <a:tcPr marL="114300" marR="114300" marT="57150" marB="5715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006100"/>
                          </a:solidFill>
                        </a:rPr>
                        <a:t>SHIP</a:t>
                      </a:r>
                    </a:p>
                  </a:txBody>
                  <a:tcPr marL="114300" marR="114300" marT="57150" marB="57150">
                    <a:solidFill>
                      <a:srgbClr val="C6EFCE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functional_usefulness</a:t>
                      </a:r>
                    </a:p>
                  </a:txBody>
                  <a:tcPr marL="114300" marR="114300" marT="57150" marB="5715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006100"/>
                          </a:solidFill>
                        </a:rPr>
                        <a:t>1.00 (n=12)</a:t>
                      </a:r>
                    </a:p>
                  </a:txBody>
                  <a:tcPr marL="114300" marR="114300" marT="57150" marB="5715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006100"/>
                          </a:solidFill>
                        </a:rPr>
                        <a:t>0.64 (n=12)</a:t>
                      </a:r>
                    </a:p>
                  </a:txBody>
                  <a:tcPr marL="114300" marR="114300" marT="57150" marB="5715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006100"/>
                          </a:solidFill>
                        </a:rPr>
                        <a:t>SHIP</a:t>
                      </a:r>
                    </a:p>
                  </a:txBody>
                  <a:tcPr marL="114300" marR="114300" marT="57150" marB="57150">
                    <a:solidFill>
                      <a:srgbClr val="C6EFCE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concision</a:t>
                      </a:r>
                    </a:p>
                  </a:txBody>
                  <a:tcPr marL="114300" marR="114300" marT="57150" marB="5715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006100"/>
                          </a:solidFill>
                        </a:rPr>
                        <a:t>1.00 (n=12)</a:t>
                      </a:r>
                    </a:p>
                  </a:txBody>
                  <a:tcPr marL="114300" marR="114300" marT="57150" marB="5715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9C0006"/>
                          </a:solidFill>
                        </a:rPr>
                        <a:t>0.44 (n=12)</a:t>
                      </a:r>
                    </a:p>
                  </a:txBody>
                  <a:tcPr marL="114300" marR="114300" marT="57150" marB="57150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9C0006"/>
                          </a:solidFill>
                        </a:rPr>
                        <a:t>HOLD</a:t>
                      </a:r>
                    </a:p>
                  </a:txBody>
                  <a:tcPr marL="114300" marR="114300" marT="57150" marB="57150">
                    <a:solidFill>
                      <a:srgbClr val="FFC7CE"/>
                    </a:solidFill>
                  </a:tcPr>
                </a:tc>
              </a:tr>
            </a:tbl>
          </a:graphicData>
        </a:graphic>
      </p:graphicFrame>
      <p:sp>
        <p:nvSpPr>
          <p:cNvPr id="5" name="Cap"/>
          <p:cNvSpPr>
            <a:spLocks noGrp="1"/>
          </p:cNvSpPr>
          <p:nvPr/>
        </p:nvSpPr>
        <p:spPr>
          <a:xfrm>
            <a:off x="685800" y="3090000"/>
            <a:ext cx="7772400" cy="6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595959"/>
                </a:solidFill>
              </a:rPr>
              <a:t>This verdict rates the judges, not the product. SHIP: both AI judges matched your grades well enough to grade this quality on their own. HOLD: at least one did not, so keep grading it by hand (or improve the rubric) until it earns SHIP.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What this means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b="1" sz="1600"/>
              <a:t>Overall: 2 of 3 constructs clear the bar.</a:t>
            </a:r>
          </a:p>
          <a:p>
            <a:pPr>
              <a:buChar char="•"/>
            </a:pPr>
            <a:r>
              <a:rPr sz="1600"/>
              <a:t>Inputs graded: 12 · Adjudications: 6 · Bias notes: 2</a:t>
            </a:r>
          </a:p>
          <a:p>
            <a:pPr>
              <a:buChar char="•"/>
            </a:pPr>
            <a:r>
              <a:rPr sz="1600"/>
              <a:t>descriptive_accuracy: Judge A 0.71 (clears the 0.60 bar), Judge B 0.84 (clears the bar). functional_usefulness: Judge A 1.00 (clears), Judge B 0.64 (clears). concision: Judge A 1.00 (clears), Judge B 0.44 (below the bar).</a:t>
            </a:r>
          </a:p>
          <a:p>
            <a:pPr>
              <a:buChar char="•"/>
            </a:pPr>
            <a:r>
              <a:rPr sz="1600"/>
              <a:t>Who should trust this: The team can trust Judge A for alt-text QA on standard-risk images. Do not trust Judge B on concision until re-prompted.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6CBD"/>
          </a:solidFill>
        </p:spPr>
        <p:txBody>
          <a:bodyPr wrap="square"/>
          <a:lstStyle/>
        </p:txBody>
      </p:sp>
      <p:sp>
        <p:nvSpPr>
          <p:cNvPr id="3" name="SecTitle"/>
          <p:cNvSpPr>
            <a:spLocks noGrp="1"/>
          </p:cNvSpPr>
          <p:nvPr/>
        </p:nvSpPr>
        <p:spPr>
          <a:xfrm>
            <a:off x="685800" y="2500000"/>
            <a:ext cx="7772400" cy="1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4000">
                <a:solidFill>
                  <a:srgbClr val="FFFFFF"/>
                </a:solidFill>
              </a:rPr>
              <a:t>Methodology</a:t>
            </a:r>
          </a:p>
          <a:p>
            <a:pPr>
              <a:buNone/>
            </a:pPr>
            <a:r>
              <a:rPr sz="1800">
                <a:solidFill>
                  <a:srgbClr val="FFFFFF"/>
                </a:solidFill>
              </a:rPr>
              <a:t>How the panel worked.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What was measured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b="1" sz="1600"/>
              <a:t>Scenario: A PowerPoint presenter puts images on slides; audience members using screen readers need to know what each image shows and why it is there.</a:t>
            </a:r>
          </a:p>
          <a:p>
            <a:pPr>
              <a:buChar char="•"/>
            </a:pPr>
            <a:r>
              <a:rPr sz="1600"/>
              <a:t>Why it matters: When alt text is wrong, thin, or missing, screen-reader users miss the point of the slide. Copilot-generated alt text ships to millions of presentations: we need to know it is good before it does.</a:t>
            </a:r>
          </a:p>
          <a:p>
            <a:pPr>
              <a:buChar char="•"/>
            </a:pPr>
            <a:r>
              <a:rPr sz="1600"/>
              <a:t>Constructs: descriptive_accuracy, functional_usefulness, concision</a:t>
            </a:r>
          </a:p>
          <a:p>
            <a:pPr>
              <a:buChar char="•"/>
            </a:pPr>
            <a:r>
              <a:rPr sz="1600"/>
              <a:t>Evidence: W3C alt decision tree (WCAG technique H37); WebAIM Screen Reader User Survey; Microsoft Accessibility Insights guidance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The method in four moves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b="1" sz="1600"/>
              <a:t>1. Blind human grading.</a:t>
            </a:r>
          </a:p>
          <a:p>
            <a:pPr>
              <a:buChar char="•"/>
            </a:pPr>
            <a:r>
              <a:rPr sz="1600"/>
              <a:t>You graded every input first, with no judge results in view.</a:t>
            </a:r>
          </a:p>
          <a:p>
            <a:pPr>
              <a:buChar char="•"/>
            </a:pPr>
            <a:r>
              <a:rPr b="1" sz="1600"/>
              <a:t>2. Two independent judges.</a:t>
            </a:r>
          </a:p>
          <a:p>
            <a:pPr>
              <a:buChar char="•"/>
            </a:pPr>
            <a:r>
              <a:rPr sz="1600"/>
              <a:t>Judge A and Judge B graded the same inputs from the same rubric, in separate sessions.</a:t>
            </a:r>
          </a:p>
          <a:p>
            <a:pPr>
              <a:buChar char="•"/>
            </a:pPr>
            <a:r>
              <a:rPr b="1" sz="1600"/>
              <a:t>3. Agreement measured.</a:t>
            </a:r>
          </a:p>
          <a:p>
            <a:pPr>
              <a:buChar char="•"/>
            </a:pPr>
            <a:r>
              <a:rPr sz="1600"/>
              <a:t>Kappa per construct: how much each judge agrees with the human expert, after removing lucky agreement. Trust bar: 0.60.</a:t>
            </a:r>
          </a:p>
          <a:p>
            <a:pPr>
              <a:buChar char="•"/>
            </a:pPr>
            <a:r>
              <a:rPr b="1" sz="1600"/>
              <a:t>4. Every disagreement adjudicated.</a:t>
            </a:r>
          </a:p>
          <a:p>
            <a:pPr>
              <a:buChar char="•"/>
            </a:pPr>
            <a:r>
              <a:rPr sz="1600"/>
              <a:t>The human expert ruled on each one: whose score stands, and why. Rubric fixed and versioned where the rubric was at fault; judge biases checked.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Task, Run, Grader: the three design choices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b="1" sz="1600"/>
              <a:t>Task: what behavior you care about.</a:t>
            </a:r>
          </a:p>
          <a:p>
            <a:pPr>
              <a:buChar char="•"/>
            </a:pPr>
            <a:r>
              <a:rPr sz="1600"/>
              <a:t>For agentic features: a user request plus an environment (tools, data, permissions). "Given this request and this environment, what should the agent do?"</a:t>
            </a:r>
          </a:p>
          <a:p>
            <a:pPr>
              <a:buChar char="•"/>
            </a:pPr>
            <a:r>
              <a:rPr b="1" sz="1600"/>
              <a:t>Run: one end-to-end execution.</a:t>
            </a:r>
          </a:p>
          <a:p>
            <a:pPr>
              <a:buChar char="•"/>
            </a:pPr>
            <a:r>
              <a:rPr sz="1600"/>
              <a:t>The full trace: prompts, intermediate reasoning, every tool call (name, arguments, result), every state change, and the final outcome. The run is the unit of evaluation.</a:t>
            </a:r>
          </a:p>
          <a:p>
            <a:pPr>
              <a:buChar char="•"/>
            </a:pPr>
            <a:r>
              <a:rPr b="1" sz="1600"/>
              <a:t>Grader: whatever decides whether the agent succeeded.</a:t>
            </a:r>
          </a:p>
          <a:p>
            <a:pPr>
              <a:buChar char="•"/>
            </a:pPr>
            <a:r>
              <a:rPr sz="1600"/>
              <a:t>A person, a code-based check, or an AI judge. Each grader type must earn its job (next slide).</a:t>
            </a:r>
          </a:p>
          <a:p>
            <a:pPr>
              <a:buChar char="•"/>
            </a:pPr>
            <a:r>
              <a:rPr sz="1600"/>
              <a:t>PANEL grades the run, not just the final text: a right answer reached the wrong way is a failure users will eventually feel.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Three kinds of graders, three jobs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b="1" sz="1600"/>
              <a:t>Code-based graders (deterministic scripts): what a script can check exactly.</a:t>
            </a:r>
          </a:p>
          <a:p>
            <a:pPr>
              <a:buChar char="•"/>
            </a:pPr>
            <a:r>
              <a:rPr sz="1600"/>
              <a:t>Formats, schemas, allowed tool sets, argument validity, state diffs. Cheap, reproducible, zero variance: they run first as a gate. Tested against valid variations, never trusted on kappa.</a:t>
            </a:r>
          </a:p>
          <a:p>
            <a:pPr>
              <a:buChar char="•"/>
            </a:pPr>
            <a:r>
              <a:rPr b="1" sz="1600"/>
              <a:t>AI judges: what needs judgment about meaning or quality.</a:t>
            </a:r>
          </a:p>
          <a:p>
            <a:pPr>
              <a:buChar char="•"/>
            </a:pPr>
            <a:r>
              <a:rPr sz="1600"/>
              <a:t>Relevance, reasoning soundness, tone. They grade unsupervised only after clearing the trust bar (kappa ≥ 0.60) against human grades.</a:t>
            </a:r>
          </a:p>
          <a:p>
            <a:pPr>
              <a:buChar char="•"/>
            </a:pPr>
            <a:r>
              <a:rPr b="1" sz="1600"/>
              <a:t>Humans: what defines correctness.</a:t>
            </a:r>
          </a:p>
          <a:p>
            <a:pPr>
              <a:buChar char="•"/>
            </a:pPr>
            <a:r>
              <a:rPr sz="1600"/>
              <a:t>Ground truth, dispute resolution, production spot-checks. Expensive, never replaced.</a:t>
            </a:r>
          </a:p>
          <a:p>
            <a:pPr>
              <a:buChar char="•"/>
            </a:pPr>
            <a:r>
              <a:rPr sz="1600"/>
              <a:t>For agentic runs: code checks trace structure, AI judges assess trace quality, humans adjudicate the hard cases.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Rubric v2 (constructs)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b="1" sz="1600"/>
              <a:t>descriptive_accuracy: The alt text correctly describes what is actually visible: objects, setting, and the salient visual details a sighted person would notice.</a:t>
            </a:r>
          </a:p>
          <a:p>
            <a:pPr>
              <a:buChar char="•"/>
            </a:pPr>
            <a:r>
              <a:rPr b="1" sz="1600"/>
              <a:t>functional_usefulness: The alt text serves the listener's actual need in context: a PowerPoint audience member on a screen reader learns what the image is doing on the slide, not just what it looks like.</a:t>
            </a:r>
          </a:p>
          <a:p>
            <a:pPr>
              <a:buChar char="•"/>
            </a:pPr>
            <a:r>
              <a:rPr b="1" sz="1600"/>
              <a:t>concision: The alt text is appropriately brief: complete in one breath, roughly under 125 characters, with no filler phrases like 'image of' or 'in this image we can see'.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6CBD"/>
          </a:solidFill>
        </p:spPr>
        <p:txBody>
          <a:bodyPr wrap="square"/>
          <a:lstStyle/>
        </p:txBody>
      </p:sp>
      <p:sp>
        <p:nvSpPr>
          <p:cNvPr id="3" name="SecTitle"/>
          <p:cNvSpPr>
            <a:spLocks noGrp="1"/>
          </p:cNvSpPr>
          <p:nvPr/>
        </p:nvSpPr>
        <p:spPr>
          <a:xfrm>
            <a:off x="685800" y="2500000"/>
            <a:ext cx="7772400" cy="1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4000">
                <a:solidFill>
                  <a:srgbClr val="FFFFFF"/>
                </a:solidFill>
              </a:rPr>
              <a:t>Findings</a:t>
            </a:r>
          </a:p>
          <a:p>
            <a:pPr>
              <a:buNone/>
            </a:pPr>
            <a:r>
              <a:rPr sz="1800">
                <a:solidFill>
                  <a:srgbClr val="FFFFFF"/>
                </a:solidFill>
              </a:rPr>
              <a:t>What the panel found.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Judge agreement (Cohen's kappa)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685800" y="1500000"/>
          <a:ext cx="7772400" cy="1440000"/>
        </p:xfrm>
        <a:graphic>
          <a:graphicData uri="http://schemas.openxmlformats.org/drawingml/2006/table">
            <a:tbl>
              <a:tblPr firstRow="1" bandRow="1">
                <a:tableStyleId>{5C22544A-7EE6-4342-B048-85BDC54066F5}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34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Construct</a:t>
                      </a:r>
                    </a:p>
                  </a:txBody>
                  <a:tcPr marL="114300" marR="114300" marT="57150" marB="5715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You vs Judge A</a:t>
                      </a:r>
                    </a:p>
                  </a:txBody>
                  <a:tcPr marL="114300" marR="114300" marT="57150" marB="5715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You vs Judge B</a:t>
                      </a:r>
                    </a:p>
                  </a:txBody>
                  <a:tcPr marL="114300" marR="114300" marT="57150" marB="5715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Trust bar</a:t>
                      </a:r>
                    </a:p>
                  </a:txBody>
                  <a:tcPr marL="114300" marR="114300" marT="57150" marB="57150">
                    <a:solidFill>
                      <a:srgbClr val="1F3864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descriptive_accuracy</a:t>
                      </a:r>
                    </a:p>
                  </a:txBody>
                  <a:tcPr marL="114300" marR="114300" marT="57150" marB="5715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006100"/>
                          </a:solidFill>
                        </a:rPr>
                        <a:t>0.71 (n=12)</a:t>
                      </a:r>
                    </a:p>
                  </a:txBody>
                  <a:tcPr marL="114300" marR="114300" marT="57150" marB="5715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006100"/>
                          </a:solidFill>
                        </a:rPr>
                        <a:t>0.84 (n=12)</a:t>
                      </a:r>
                    </a:p>
                  </a:txBody>
                  <a:tcPr marL="114300" marR="114300" marT="57150" marB="5715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bar 0.60</a:t>
                      </a:r>
                    </a:p>
                  </a:txBody>
                  <a:tcPr marL="114300" marR="114300" marT="57150" marB="57150">
                    <a:noFill/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functional_usefulness</a:t>
                      </a:r>
                    </a:p>
                  </a:txBody>
                  <a:tcPr marL="114300" marR="114300" marT="57150" marB="5715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006100"/>
                          </a:solidFill>
                        </a:rPr>
                        <a:t>1.00 (n=12)</a:t>
                      </a:r>
                    </a:p>
                  </a:txBody>
                  <a:tcPr marL="114300" marR="114300" marT="57150" marB="5715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006100"/>
                          </a:solidFill>
                        </a:rPr>
                        <a:t>0.64 (n=12)</a:t>
                      </a:r>
                    </a:p>
                  </a:txBody>
                  <a:tcPr marL="114300" marR="114300" marT="57150" marB="5715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bar 0.60</a:t>
                      </a:r>
                    </a:p>
                  </a:txBody>
                  <a:tcPr marL="114300" marR="114300" marT="57150" marB="57150">
                    <a:noFill/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concision</a:t>
                      </a:r>
                    </a:p>
                  </a:txBody>
                  <a:tcPr marL="114300" marR="114300" marT="57150" marB="5715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006100"/>
                          </a:solidFill>
                        </a:rPr>
                        <a:t>1.00 (n=12)</a:t>
                      </a:r>
                    </a:p>
                  </a:txBody>
                  <a:tcPr marL="114300" marR="114300" marT="57150" marB="57150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 sz="1400">
                          <a:solidFill>
                            <a:srgbClr val="9C0006"/>
                          </a:solidFill>
                        </a:rPr>
                        <a:t>0.44 (n=12)</a:t>
                      </a:r>
                    </a:p>
                  </a:txBody>
                  <a:tcPr marL="114300" marR="114300" marT="57150" marB="57150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00"/>
                        <a:t>bar 0.60</a:t>
                      </a:r>
                    </a:p>
                  </a:txBody>
                  <a:tcPr marL="114300" marR="114300" marT="57150" marB="57150">
                    <a:noFill/>
                  </a:tcPr>
                </a:tc>
              </a:tr>
            </a:tbl>
          </a:graphicData>
        </a:graphic>
      </p:graphicFrame>
      <p:sp>
        <p:nvSpPr>
          <p:cNvPr id="5" name="Cap"/>
          <p:cNvSpPr>
            <a:spLocks noGrp="1"/>
          </p:cNvSpPr>
          <p:nvPr/>
        </p:nvSpPr>
        <p:spPr>
          <a:xfrm>
            <a:off x="685800" y="3090000"/>
            <a:ext cx="7772400" cy="6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595959"/>
                </a:solidFill>
              </a:rPr>
              <a:t>Green clears the bar, red does not. n = inputs graded by both.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Where the judges disagreed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INPUT-09 · concision: you 1, Judge A 1, Judge B 2</a:t>
            </a:r>
          </a:p>
          <a:p>
            <a:pPr>
              <a:buChar char="•"/>
            </a:pPr>
            <a:r>
              <a:rPr sz="1600"/>
              <a:t>INPUT-11 · concision: you 0, Judge A 0, Judge B 2</a:t>
            </a:r>
          </a:p>
          <a:p>
            <a:pPr>
              <a:buChar char="•"/>
            </a:pPr>
            <a:r>
              <a:rPr sz="1600"/>
              <a:t>INPUT-08 · functional_usefulness: you 1, Judge A 1, Judge B 2</a:t>
            </a:r>
          </a:p>
          <a:p>
            <a:pPr>
              <a:buChar char="•"/>
            </a:pPr>
            <a:r>
              <a:rPr sz="1600"/>
              <a:t>INPUT-03 · descriptive_accuracy: you 1, Judge A 2, Judge B 1</a:t>
            </a:r>
          </a:p>
          <a:p>
            <a:pPr>
              <a:buChar char="•"/>
            </a:pPr>
            <a:r>
              <a:rPr sz="1600"/>
              <a:t>INPUT-06 · descriptive_accuracy: you 2, Judge A 1, Judge B 2</a:t>
            </a:r>
          </a:p>
          <a:p>
            <a:pPr>
              <a:buChar char="•"/>
            </a:pPr>
            <a:r>
              <a:rPr sz="1600"/>
              <a:t>INPUT-11 · descriptive_accuracy: you 0, Judge A 0, Judge B 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Adjudication highlights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b="1" sz="1600"/>
              <a:t>INPUT-03 · descriptive_accuracy: grader error</a:t>
            </a:r>
          </a:p>
          <a:p>
            <a:pPr>
              <a:buChar char="•"/>
            </a:pPr>
            <a:r>
              <a:rPr sz="1600"/>
              <a:t>Judge A scored the words; the money detail (sun rays) was missed. No rubric change.</a:t>
            </a:r>
          </a:p>
          <a:p>
            <a:pPr>
              <a:buChar char="•"/>
            </a:pPr>
            <a:r>
              <a:rPr b="1" sz="1600"/>
              <a:t>INPUT-06 · descriptive_accuracy: rubric ambiguity</a:t>
            </a:r>
          </a:p>
          <a:p>
            <a:pPr>
              <a:buChar char="•"/>
            </a:pPr>
            <a:r>
              <a:rPr sz="1600"/>
              <a:t>Two reasonable graders split on whether 'colorful slides' is salient. v2 anchor: a missed salient detail caps accuracy at 1. Rubric bumped to v2.</a:t>
            </a:r>
          </a:p>
          <a:p>
            <a:pPr>
              <a:buChar char="•"/>
            </a:pPr>
            <a:r>
              <a:rPr b="1" sz="1600"/>
              <a:t>INPUT-08 · functional_usefulness: my grade was wrong</a:t>
            </a:r>
          </a:p>
          <a:p>
            <a:pPr>
              <a:buChar char="•"/>
            </a:pPr>
            <a:r>
              <a:rPr sz="1600"/>
              <a:t>Judge B was right: 'styled workspace photography' does signal the slide's remote-work theme. Corrected to 2, no rubric change.</a:t>
            </a:r>
          </a:p>
          <a:p>
            <a:pPr>
              <a:buChar char="•"/>
            </a:pPr>
            <a:r>
              <a:rPr b="1" sz="1600"/>
              <a:t>INPUT-09 · concision: grader error</a:t>
            </a:r>
          </a:p>
          <a:p>
            <a:pPr>
              <a:buChar char="•"/>
            </a:pPr>
            <a:r>
              <a:rPr sz="1600"/>
              <a:t>Judge B scored a filler-opening output 2 on concision. Second data point for the verbosity-bias note.</a:t>
            </a:r>
          </a:p>
          <a:p>
            <a:pPr>
              <a:buChar char="•"/>
            </a:pPr>
            <a:r>
              <a:rPr b="1" sz="1600"/>
              <a:t>INPUT-11 · descriptive_accuracy: grader error</a:t>
            </a:r>
          </a:p>
          <a:p>
            <a:pPr>
              <a:buChar char="•"/>
            </a:pPr>
            <a:r>
              <a:rPr sz="1600"/>
              <a:t>Judge B credited invented details (1960s, blue sky). Judge prompt already forbids invention; flagged in readout, no rubric change.</a:t>
            </a:r>
          </a:p>
          <a:p>
            <a:pPr>
              <a:buChar char="•"/>
            </a:pPr>
            <a:r>
              <a:rPr b="1" sz="1600"/>
              <a:t>INPUT-11 · concision: grader error</a:t>
            </a:r>
          </a:p>
          <a:p>
            <a:pPr>
              <a:buChar char="•"/>
            </a:pPr>
            <a:r>
              <a:rPr sz="1600"/>
              <a:t>Judge B scored a ~210-char padded output 2 on concision. Verbosity-bias note filed; Judge B blocked from concision until re-prompted.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What the disagreements taught us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v2 (2026-10-02): descriptive_accuracy: a missed salient detail caps accuracy at 1 (from INPUT-06 adjudication).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Bias checks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b="1" sz="1600"/>
              <a:t>verbosity · Judge B</a:t>
            </a:r>
          </a:p>
          <a:p>
            <a:pPr>
              <a:buChar char="•"/>
            </a:pPr>
            <a:r>
              <a:rPr sz="1600"/>
              <a:t>Generous to long outputs: scored 2 vs human 0 on INPUT-11 concision (~210 chars); 2 vs 1 on INPUT-09. Do not trust Judge B on concision until re-prompted.</a:t>
            </a:r>
          </a:p>
          <a:p>
            <a:pPr>
              <a:buChar char="•"/>
            </a:pPr>
            <a:r>
              <a:rPr b="1" sz="1600"/>
              <a:t>position · Judge A</a:t>
            </a:r>
          </a:p>
          <a:p>
            <a:pPr>
              <a:buChar char="•"/>
            </a:pPr>
            <a:r>
              <a:rPr sz="1600"/>
              <a:t>No position effect observed: single-output grading, no pairwise presentation in this pilot.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Operating decisions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(Record the call in Step 20 first.)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Customer problem statements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(Write them in Step 22 first.)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User stories for the product team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(Write them in Step 22 first.)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6CBD"/>
          </a:solidFill>
        </p:spPr>
        <p:txBody>
          <a:bodyPr wrap="square"/>
          <a:lstStyle/>
        </p:txBody>
      </p:sp>
      <p:sp>
        <p:nvSpPr>
          <p:cNvPr id="3" name="SecTitle"/>
          <p:cNvSpPr>
            <a:spLocks noGrp="1"/>
          </p:cNvSpPr>
          <p:nvPr/>
        </p:nvSpPr>
        <p:spPr>
          <a:xfrm>
            <a:off x="685800" y="2500000"/>
            <a:ext cx="7772400" cy="1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4000">
                <a:solidFill>
                  <a:srgbClr val="FFFFFF"/>
                </a:solidFill>
              </a:rPr>
              <a:t>What we learned</a:t>
            </a:r>
          </a:p>
          <a:p>
            <a:pPr>
              <a:buNone/>
            </a:pPr>
            <a:r>
              <a:rPr sz="1800">
                <a:solidFill>
                  <a:srgbClr val="FFFFFF"/>
                </a:solidFill>
              </a:rPr>
              <a:t>One through-line per finding: what, evidence, so what, recommendation.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descriptive_accuracy: ready to trust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Evidence: Both AI judges agreed with the human expert well beyond chance (Judge A 0.71, Judge B 0.84; bar 0.60) across 12 inputs.</a:t>
            </a:r>
          </a:p>
          <a:p>
            <a:pPr>
              <a:buChar char="•"/>
            </a:pPr>
            <a:r>
              <a:rPr sz="1600"/>
              <a:t>So what: Scores on descriptive_accuracy can stand in for human review. The alt text correctly describes what is actually visible: objects, setting, and the salient visual details a sighted person would notice.</a:t>
            </a:r>
          </a:p>
          <a:p>
            <a:pPr>
              <a:buChar char="•"/>
            </a:pPr>
            <a:r>
              <a:rPr b="1" sz="1600"/>
              <a:t>Recommendation (Product): Use either judge for descriptive_accuracy QA on new outputs; prefer Judge B (0.84) for ongoing monitoring.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functional_usefulness: ready to trust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Evidence: Both AI judges agreed with the human expert well beyond chance (Judge A 1.00, Judge B 0.64; bar 0.60) across 12 inputs.</a:t>
            </a:r>
          </a:p>
          <a:p>
            <a:pPr>
              <a:buChar char="•"/>
            </a:pPr>
            <a:r>
              <a:rPr sz="1600"/>
              <a:t>So what: Scores on functional_usefulness can stand in for human review. The alt text serves the listener's actual need in context: a PowerPoint audience member on a screen reader learns what the image is doing on the slide, not just what it looks like.</a:t>
            </a:r>
          </a:p>
          <a:p>
            <a:pPr>
              <a:buChar char="•"/>
            </a:pPr>
            <a:r>
              <a:rPr b="1" sz="1600"/>
              <a:t>Recommendation (Product): Use either judge for functional_usefulness QA on new outputs; prefer Judge A (1.00) for ongoing monitoring.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concision: HOLD — Judge B (0.44) below the bar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Evidence: Judge B agreed with the human expert at 0.44, below the 0.60 bar. Bias checks: Judge B shows verbosity bias (Generous to long outputs: scored 2 vs human 0 on INPUT-11 concision (~210 chars); 2 vs 1 on INPUT-09. Do not trust Judge B on concision until re-prompted.) A judge below the bar does not…</a:t>
            </a:r>
          </a:p>
          <a:p>
            <a:pPr>
              <a:buChar char="•"/>
            </a:pPr>
            <a:r>
              <a:rPr sz="1600"/>
              <a:t>So what: Scores from a below-bar judge look precise but do not reflect expert judgment. Using them for QA or launch decisions would bless outputs a human would reject.</a:t>
            </a:r>
          </a:p>
          <a:p>
            <a:pPr>
              <a:buChar char="•"/>
            </a:pPr>
            <a:r>
              <a:rPr b="1" sz="1600"/>
              <a:t>Recommendation (Applied science): Do not use Judge B for concision. Judge A clears the bar (1.00) — use it alone. Address the bias, re-prompt, and re-run agreement.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42% of outputs earned top marks on descriptive_accuracy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Evidence: Human-graded 12 outputs: 5 scored 2, 6 scored 1, 1 scored 0. Most failures are partial credit — broadly correct but misses a salient detail, or one minor inaccuracy. A missed salient detail caps accuracy at 1. 3 adjudications on descriptive_accuracy: Judge A scored the words; the money detail (sun…</a:t>
            </a:r>
          </a:p>
          <a:p>
            <a:pPr>
              <a:buChar char="•"/>
            </a:pPr>
            <a:r>
              <a:rPr sz="1600"/>
              <a:t>So what: Falling short of “All salient elements named correctly; nothing invented. A listener could picture the scene.” on 7 of 12 outputs. 1 of the failures are high-risk inputs. If this ships as-is, 58% of outputs fall short of the bar the team set.</a:t>
            </a:r>
          </a:p>
          <a:p>
            <a:pPr>
              <a:buChar char="•"/>
            </a:pPr>
            <a:r>
              <a:rPr b="1" sz="1600"/>
              <a:t>Recommendation (Product): Open the grade explorer filtered to descriptive_accuracy below 2 (INPUT-01, INPUT-02, INPUT-03, INPUT-05, INPUT-10, …). How might we get outputs to consistently all salient elements named correctly; nothing invented. A listener could picture the scene.? Check the trace on INPUT-03, INPUT-11 to see…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0% of outputs earned top marks on functional_usefulness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Evidence: Human-graded 12 outputs: 0 scored 2, 11 scored 1, 1 scored 0. Most failures are partial credit — describes content accurately but gives no functional framing. 1 adjudication on functional_usefulness: Judge B was right: 'styled workspace photography' does signal the slide's remote-work theme.…</a:t>
            </a:r>
          </a:p>
          <a:p>
            <a:pPr>
              <a:buChar char="•"/>
            </a:pPr>
            <a:r>
              <a:rPr sz="1600"/>
              <a:t>So what: Falling short of “Conveys both content and function: why this image is on this slide.” on 12 of 12 outputs. 2 of the failures are high-risk inputs. If this ships as-is, 100% of outputs fall short of the bar the team set.</a:t>
            </a:r>
          </a:p>
          <a:p>
            <a:pPr>
              <a:buChar char="•"/>
            </a:pPr>
            <a:r>
              <a:rPr b="1" sz="1600"/>
              <a:t>Recommendation (Product): Open the grade explorer filtered to functional_usefulness below 2 (INPUT-01, INPUT-02, INPUT-03, INPUT-04, INPUT-05, …). How might we get outputs to consistently conveys both content and function: why this image is on this slide.? Check the trace on INPUT-03, INPUT-11 to see whether the breakdown…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75% of outputs earned top marks on concision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Evidence: Human-graded 12 outputs: 9 scored 2, 2 scored 1, 1 scored 0. Most failures are partial credit — 125-200 characters, or one filler phrase; still listenable. 2 adjudications on concision: Judge B scored a filler-opening output 2 on concision. Second data point for the verbosity-bias note. Judge B…</a:t>
            </a:r>
          </a:p>
          <a:p>
            <a:pPr>
              <a:buChar char="•"/>
            </a:pPr>
            <a:r>
              <a:rPr sz="1600"/>
              <a:t>So what: Falling short of “About 125 characters or fewer, no filler; nothing a listener would want cut.” on 3 of 12 outputs. If this ships as-is, 25% of outputs fall short of the bar the team set.</a:t>
            </a:r>
          </a:p>
          <a:p>
            <a:pPr>
              <a:buChar char="•"/>
            </a:pPr>
            <a:r>
              <a:rPr b="1" sz="1600"/>
              <a:t>Recommendation (Product): Open the grade explorer filtered to concision below 2 (INPUT-02, INPUT-09, INPUT-11). How might we get outputs to consistently about 125 characters or fewer, no filler; nothing a listener would want cut.? Check the trace on INPUT-11 to see whether the breakdown is in the model output, a tool call,…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Recommended actions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b="1" sz="1600"/>
              <a:t>[UXR] Grow past the 12-input pilot before making launch decisions.</a:t>
            </a:r>
          </a:p>
          <a:p>
            <a:pPr>
              <a:buChar char="•"/>
            </a:pPr>
            <a:r>
              <a:rPr b="1" sz="1600"/>
              <a:t>[Product] Use either judge for descriptive_accuracy QA on new outputs; prefer Judge B (0.84) for ongoing monitoring.</a:t>
            </a:r>
          </a:p>
          <a:p>
            <a:pPr>
              <a:buChar char="•"/>
            </a:pPr>
            <a:r>
              <a:rPr b="1" sz="1600"/>
              <a:t>[Product] Open the grade explorer filtered to descriptive_accuracy below 2 (INPUT-01, INPUT-02, INPUT-03, INPUT-05, INPUT-10, …). How might we get outputs to consistently all salient elements named correctly; nothing invented. A listener could picture the scene.? Check the trace on INPUT-03, INPUT-11 to see whether the breakdown is in the model output, a tool call, or the harness. Log the trace for every input next round: a failure you cannot diagnose is a number, not a finding.</a:t>
            </a:r>
          </a:p>
          <a:p>
            <a:pPr>
              <a:buChar char="•"/>
            </a:pPr>
            <a:r>
              <a:rPr b="1" sz="1600"/>
              <a:t>[Product] Use either judge for functional_usefulness QA on new outputs; prefer Judge A (1.00) for ongoing monitoring.</a:t>
            </a:r>
          </a:p>
          <a:p>
            <a:pPr>
              <a:buChar char="•"/>
            </a:pPr>
            <a:r>
              <a:rPr b="1" sz="1600"/>
              <a:t>[Product] Open the grade explorer filtered to functional_usefulness below 2 (INPUT-01, INPUT-02, INPUT-03, INPUT-04, INPUT-05, …). How might we get outputs to consistently conveys both content and function: why this image is on this slide.? Check the trace on INPUT-03, INPUT-11 to see whether the breakdown is in the model output, a tool call, or the harness. Log the trace for every input next round: a failure you cannot diagnose is a number, not a finding.</a:t>
            </a:r>
          </a:p>
          <a:p>
            <a:pPr>
              <a:buChar char="•"/>
            </a:pPr>
            <a:r>
              <a:rPr b="1" sz="1600"/>
              <a:t>[Applied science] Do not use Judge B for concision. Judge A clears the bar (1.00) — use it alone. Address the bias, re-prompt, and re-run agreement.</a:t>
            </a:r>
          </a:p>
          <a:p>
            <a:pPr>
              <a:buChar char="•"/>
            </a:pPr>
            <a:r>
              <a:rPr b="1" sz="1600"/>
              <a:t>[Product] Open the grade explorer filtered to concision below 2 (INPUT-02, INPUT-09, INPUT-11). How might we get outputs to consistently about 125 characters or fewer, no filler; nothing a listener would want cut.? Check the trace on INPUT-11 to see whether the breakdown is in the model output, a tool call, or the harness. Log the trace for every input next round: a failure you cannot diagnose is a number, not a finding.</a:t>
            </a:r>
          </a:p>
          <a:p>
            <a:pPr>
              <a:buChar char="•"/>
            </a:pPr>
            <a:r>
              <a:rPr b="1" sz="1600"/>
              <a:t>[Product] Decide: product work on this slice, or wider coverage to confirm the signal.</a:t>
            </a:r>
          </a:p>
          <a:p>
            <a:pPr>
              <a:buChar char="•"/>
            </a:pPr>
            <a:r>
              <a:rPr b="1" sz="1600"/>
              <a:t>[Product] Decide: product work on this slice, or wider coverage to confirm the signal.</a:t>
            </a:r>
          </a:p>
          <a:p>
            <a:pPr>
              <a:buChar char="•"/>
            </a:pPr>
            <a:r>
              <a:rPr b="1" sz="1600"/>
              <a:t>[UXR] Work the queue top-down; each row opens the adjudication form pre-filled.</a:t>
            </a:r>
          </a:p>
          <a:p>
            <a:pPr>
              <a:buChar char="•"/>
            </a:pPr>
            <a:r>
              <a:rPr b="1" sz="1600"/>
              <a:t>[UXR] After any rubric change, re-grade affected items and re-run agreement before comparing across versions.</a:t>
            </a:r>
          </a:p>
          <a:p>
            <a:pPr>
              <a:buChar char="•"/>
            </a:pPr>
            <a:r>
              <a:rPr b="1" sz="1600"/>
              <a:t>[Applied science] Account for verbosity bias in Judge B before using it at scale: re-prompt, calibrate, or exclude it on affected constructs.</a:t>
            </a:r>
          </a:p>
          <a:p>
            <a:pPr>
              <a:buChar char="•"/>
            </a:pPr>
            <a:r>
              <a:rPr b="1" sz="1600"/>
              <a:t>[Applied science] Account for position bias in Judge A before using it at scale: re-prompt, calibrate, or exclude it on affected constructs.</a:t>
            </a:r>
          </a:p>
          <a:p>
            <a:pPr>
              <a:buChar char="•"/>
            </a:pPr>
            <a:r>
              <a:rPr b="1" sz="1600"/>
              <a:t>[UXR] Re-grade items affected by the change and re-run agreement before comparing across versions.</a:t>
            </a:r>
          </a:p>
          <a:p>
            <a:pPr>
              <a:buChar char="•"/>
            </a:pPr>
            <a:r>
              <a:rPr b="1" sz="1600"/>
              <a:t>[Team] Add the v2 anchor (a missed salient detail caps accuracy at 1) before grading, and re-prompt Judge B on concision.</a:t>
            </a:r>
          </a:p>
          <a:p>
            <a:pPr>
              <a:buChar char="•"/>
            </a:pPr>
            <a:r>
              <a:rPr b="1" sz="1600"/>
              <a:t>[Exec] Do not extend automated grading beyond: The team can trust Judge A for alt-text QA on standard-risk images. Do not trust Judge B on concision until re-prompted.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6CBD"/>
          </a:solidFill>
        </p:spPr>
        <p:txBody>
          <a:bodyPr wrap="square"/>
          <a:lstStyle/>
        </p:txBody>
      </p:sp>
      <p:sp>
        <p:nvSpPr>
          <p:cNvPr id="3" name="SecTitle"/>
          <p:cNvSpPr>
            <a:spLocks noGrp="1"/>
          </p:cNvSpPr>
          <p:nvPr/>
        </p:nvSpPr>
        <p:spPr>
          <a:xfrm>
            <a:off x="685800" y="2500000"/>
            <a:ext cx="7772400" cy="14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4000">
                <a:solidFill>
                  <a:srgbClr val="FFFFFF"/>
                </a:solidFill>
              </a:rPr>
              <a:t>Appendix</a:t>
            </a:r>
          </a:p>
          <a:p>
            <a:pPr>
              <a:buNone/>
            </a:pPr>
            <a:r>
              <a:rPr sz="1800">
                <a:solidFill>
                  <a:srgbClr val="FFFFFF"/>
                </a:solidFill>
              </a:rPr>
              <a:t>For the record.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How to read this readout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SHIP means both AI judges agreed with the human expert past the trust bar: their scores can stand in for human review. HOLD means at least one did not: do not trust that judge on that measure yet.</a:t>
            </a:r>
          </a:p>
          <a:p>
            <a:pPr>
              <a:buChar char="•"/>
            </a:pPr>
            <a:r>
              <a:rPr sz="1600"/>
              <a:t>Kappa measures grader agreement after removing lucky agreement. 1.0 is perfect, 0 is chance. The trust bar is 0.60.</a:t>
            </a:r>
          </a:p>
          <a:p>
            <a:pPr>
              <a:buChar char="•"/>
            </a:pPr>
            <a:r>
              <a:rPr sz="1600"/>
              <a:t>Each finding card follows one through-line: what we found, the evidence, why it matters, and a recommendation with an owner.</a:t>
            </a:r>
          </a:p>
          <a:p>
            <a:pPr>
              <a:buChar char="•"/>
            </a:pPr>
            <a:r>
              <a:rPr sz="1600"/>
              <a:t>Trust scope: The team can trust Judge A for alt-text QA on standard-risk images. Do not trust Judge B on concision until re-prompted.</a:t>
            </a:r>
          </a:p>
          <a:p>
            <a:pPr>
              <a:buChar char="•"/>
            </a:pPr>
            <a:r>
              <a:rPr sz="1600"/>
              <a:t>Full audit trail, grades, and inputs are in the offline package and the dashboard.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Audit trail (mode log)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2026-10-02 · Step Step 14: adjudication verdict (Human-only)</a:t>
            </a:r>
          </a:p>
          <a:p>
            <a:pPr>
              <a:buChar char="•"/>
            </a:pPr>
            <a:r>
              <a:rPr sz="1600"/>
              <a:t>2026-10-02 · Step Step 15: rubric v3 (Human-only)</a:t>
            </a:r>
          </a:p>
          <a:p>
            <a:pPr>
              <a:buChar char="•"/>
            </a:pPr>
            <a:r>
              <a:rPr sz="1600"/>
              <a:t>2026-10-02 · Step Step 16: agreement round 2 (Human+AI)</a:t>
            </a:r>
          </a:p>
          <a:p>
            <a:pPr>
              <a:buChar char="•"/>
            </a:pPr>
            <a:r>
              <a:rPr sz="1600"/>
              <a:t>2026-10-02 · Step Step 17: position-bias note (AI-only exec, human read)</a:t>
            </a:r>
          </a:p>
          <a:p>
            <a:pPr>
              <a:buChar char="•"/>
            </a:pPr>
            <a:r>
              <a:rPr sz="1600"/>
              <a:t>2026-10-02 · Step Step 18: verbosity-bias note (AI-only exec, human read)</a:t>
            </a:r>
          </a:p>
          <a:p>
            <a:pPr>
              <a:buChar char="•"/>
            </a:pPr>
            <a:r>
              <a:rPr sz="1600"/>
              <a:t>2026-10-02 · Step Step 19: synthetic_tasks.csv (Human+AI)</a:t>
            </a:r>
          </a:p>
          <a:p>
            <a:pPr>
              <a:buChar char="•"/>
            </a:pPr>
            <a:r>
              <a:rPr sz="1600"/>
              <a:t>2026-10-02 · Step Step 20: dashboard (Human+AI)</a:t>
            </a:r>
          </a:p>
          <a:p>
            <a:pPr>
              <a:buChar char="•"/>
            </a:pPr>
            <a:r>
              <a:rPr sz="1600"/>
              <a:t>2026-10-02 · Step Step 21: summary (Human-only)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274638"/>
            <a:ext cx="7772400" cy="8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None/>
            </a:pPr>
            <a:r>
              <a:rPr b="1" sz="2800">
                <a:solidFill>
                  <a:srgbClr val="1F3864"/>
                </a:solidFill>
              </a:rPr>
              <a:t>Open questions + Clip C</a:t>
            </a: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685800" y="1130000"/>
            <a:ext cx="7772400" cy="45000"/>
          </a:xfrm>
          <a:prstGeom prst="rect">
            <a:avLst/>
          </a:prstGeom>
          <a:solidFill>
            <a:srgbClr val="2E75B6"/>
          </a:solidFill>
        </p:spPr>
        <p:txBody>
          <a:bodyPr wrap="square"/>
          <a:lstStyle/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85800" y="1350000"/>
            <a:ext cx="7772400" cy="5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buChar char="•"/>
            </a:pPr>
            <a:r>
              <a:rPr sz="1600"/>
              <a:t>Clip C (adjudication walkthrough): not yet confirmed.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NEL">
  <a:themeElements>
    <a:clrScheme name="PANEL">
      <a:dk1>
        <a:sysClr val="windowText" lastClr="000000"/>
      </a:dk1>
      <a:lt1>
        <a:sysClr val="window" lastClr="FFFFFF"/>
      </a:lt1>
      <a:dk2>
        <a:srgbClr val="1F3864"/>
      </a:dk2>
      <a:lt2>
        <a:srgbClr val="D9E2F3"/>
      </a:lt2>
      <a:accent1>
        <a:srgbClr val="2E75B6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mtScheme name="PANEL">
      <a:fillStyleLst>
        <a:solidFill>
          <a:schemeClr val="phClr"/>
        </a:solidFill>
        <a:gradFill rotWithShape="0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0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3810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0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</a:schemeClr>
            </a:gs>
            <a:gs pos="100000">
              <a:schemeClr val="phClr">
                <a:shade val="95000"/>
                <a:satMod val="250000"/>
              </a:schemeClr>
            </a:gs>
          </a:gsLst>
          <a:lin ang="16200000" scaled="0"/>
        </a:gradFill>
        <a:gradFill rotWithShape="0">
          <a:gsLst>
            <a:gs pos="0">
              <a:schemeClr val="phClr">
                <a:shade val="93000"/>
                <a:satMod val="150000"/>
              </a:schemeClr>
            </a:gs>
            <a:gs pos="50000">
              <a:schemeClr val="phClr">
                <a:shade val="98000"/>
                <a:satMod val="150000"/>
              </a:schemeClr>
            </a:gs>
            <a:gs pos="100000">
              <a:schemeClr val="phClr">
                <a:shade val="98000"/>
                <a:satMod val="150000"/>
              </a:schemeClr>
            </a:gs>
          </a:gsLst>
          <a:lin ang="162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PANEL</Application>
  <Slides>31</Slides>
</Properties>
</file>

<file path=docProps/core.xml><?xml version="1.0" encoding="utf-8"?>
<cp:coreProperties xmlns:cp="http://schemas.openxmlformats.org/package/2006/metadata/core-properties" xmlns:dc="http://purl.org/dc/elements/1.1/">
  <dc:title>Alt-text pilot (Matt's worked copy) readout</dc:title>
  <dc:creator>PANEL</dc:creator>
</cp:coreProperties>
</file>